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4" r:id="rId1"/>
    <p:sldMasterId id="2147483655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2BF6D12C-821F-08D6-7F4B-B08B9EF0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>
            <a:extLst>
              <a:ext uri="{FF2B5EF4-FFF2-40B4-BE49-F238E27FC236}">
                <a16:creationId xmlns:a16="http://schemas.microsoft.com/office/drawing/2014/main" id="{E8B216ED-02F7-9BAD-FA62-298BE270A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D251DBA3-31F9-BA42-E005-FAF3DDCEB9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1940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tkara Layout">
  <p:cSld name="Chitkara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"/>
          <p:cNvSpPr txBox="1"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tkara Layout">
  <p:cSld name="Chitkara Layou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dt" idx="10"/>
          </p:nvPr>
        </p:nvSpPr>
        <p:spPr>
          <a:xfrm>
            <a:off x="69633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ftr" idx="11"/>
          </p:nvPr>
        </p:nvSpPr>
        <p:spPr>
          <a:xfrm>
            <a:off x="3124079" y="6566396"/>
            <a:ext cx="3577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ldNum" idx="12"/>
          </p:nvPr>
        </p:nvSpPr>
        <p:spPr>
          <a:xfrm>
            <a:off x="7010640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5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5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 rot="10800000" flipH="1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5" descr="LOGO.gif"/>
          <p:cNvPicPr preferRelativeResize="0"/>
          <p:nvPr/>
        </p:nvPicPr>
        <p:blipFill rotWithShape="1">
          <a:blip r:embed="rId5">
            <a:alphaModFix/>
          </a:blip>
          <a:srcRect b="10714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 descr="LOGO.gif"/>
          <p:cNvPicPr preferRelativeResize="0"/>
          <p:nvPr/>
        </p:nvPicPr>
        <p:blipFill rotWithShape="1">
          <a:blip r:embed="rId5">
            <a:alphaModFix/>
          </a:blip>
          <a:srcRect b="10714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45" name="Google Shape;45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" name="Google Shape;46;p5" descr="LOGO.gif"/>
            <p:cNvPicPr preferRelativeResize="0"/>
            <p:nvPr/>
          </p:nvPicPr>
          <p:blipFill rotWithShape="1">
            <a:blip r:embed="rId5">
              <a:alphaModFix/>
            </a:blip>
            <a:srcRect b="10714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" name="Google Shape;48;p5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LOGO.gif"/>
          <p:cNvPicPr preferRelativeResize="0"/>
          <p:nvPr/>
        </p:nvPicPr>
        <p:blipFill rotWithShape="1">
          <a:blip r:embed="rId5">
            <a:alphaModFix/>
          </a:blip>
          <a:srcRect b="10714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51" name="Google Shape;51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" name="Google Shape;52;p5" descr="LOGO.gif"/>
            <p:cNvPicPr preferRelativeResize="0"/>
            <p:nvPr/>
          </p:nvPicPr>
          <p:blipFill rotWithShape="1">
            <a:blip r:embed="rId5">
              <a:alphaModFix/>
            </a:blip>
            <a:srcRect b="10714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" name="Google Shape;54;p5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47427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0" y="1287525"/>
            <a:ext cx="9144000" cy="478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lvl="0" algn="ctr">
              <a:spcBef>
                <a:spcPts val="800"/>
              </a:spcBef>
            </a:pPr>
            <a:r>
              <a:rPr lang="en-US" sz="3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and Challenges of Large Language Models in Real-World Systems</a:t>
            </a:r>
            <a:endParaRPr dirty="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Dimple Khatri  |  Garima  | 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2210991517  |  2210991562  | 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Rajat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Takkar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Chitkara University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4125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164000" y="154625"/>
            <a:ext cx="6312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Objective</a:t>
            </a:r>
            <a:endParaRPr b="1" dirty="0"/>
          </a:p>
        </p:txBody>
      </p:sp>
      <p:sp>
        <p:nvSpPr>
          <p:cNvPr id="81" name="Google Shape;81;p10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164000" y="1050000"/>
            <a:ext cx="8612100" cy="352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Background:</a:t>
            </a: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Large Language Models represent a significant advancement in AI and NLP</a:t>
            </a: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Earlier systems relied on rule-based approaches and traditional ML</a:t>
            </a: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Transformer architectures enable understanding of long-range dependencies</a:t>
            </a:r>
          </a:p>
          <a:p>
            <a:pPr lvl="0"/>
            <a:endParaRPr lang="en-US" sz="1500" dirty="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Observations:</a:t>
            </a: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Models like GPT and BERT demonstrate strong performance across tasks</a:t>
            </a: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Ability to generalize across tasks is a major strength</a:t>
            </a: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Concerns: biased outputs, hallucinations, lack of transparency</a:t>
            </a: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Rapid adoption from research to real-world applications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/>
        </p:nvSpPr>
        <p:spPr>
          <a:xfrm>
            <a:off x="170800" y="105100"/>
            <a:ext cx="85161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sz="3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1"/>
          <p:cNvSpPr txBox="1"/>
          <p:nvPr/>
        </p:nvSpPr>
        <p:spPr>
          <a:xfrm>
            <a:off x="6769390" y="659249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90" name="Google Shape;90;p11"/>
          <p:cNvSpPr txBox="1"/>
          <p:nvPr/>
        </p:nvSpPr>
        <p:spPr>
          <a:xfrm>
            <a:off x="301709" y="1172497"/>
            <a:ext cx="8254281" cy="334395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Evolution of Language Models:</a:t>
            </a:r>
            <a:b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• Statistical approaches (n-grams) → Deep learning architectures</a:t>
            </a: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• RNNs and LSTMs: limited by vanishing gradients and poor scalability</a:t>
            </a: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• Transformer architecture marked a turning point</a:t>
            </a: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• BERT and GPT: self-attention mechanisms for parallel processing</a:t>
            </a:r>
            <a:br>
              <a:rPr lang="en-US" sz="153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53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Recent Advances:</a:t>
            </a: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• Scaling to billions of parameters with strong generalization</a:t>
            </a: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• RLHF: improved alignment with human expectations</a:t>
            </a: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• Persistent challenges: bias, computational cost, explainability</a:t>
            </a: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"/>
          <p:cNvSpPr txBox="1"/>
          <p:nvPr/>
        </p:nvSpPr>
        <p:spPr>
          <a:xfrm>
            <a:off x="200000" y="180475"/>
            <a:ext cx="62769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System </a:t>
            </a:r>
            <a:r>
              <a:rPr lang="en-US" sz="3200" b="1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Architectecture</a:t>
            </a:r>
            <a:endParaRPr b="1" dirty="0"/>
          </a:p>
        </p:txBody>
      </p:sp>
      <p:sp>
        <p:nvSpPr>
          <p:cNvPr id="101" name="Google Shape;101;p12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AAC925-194B-4FBD-509E-3261BF118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018195"/>
            <a:ext cx="6667500" cy="52254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70800" y="190500"/>
            <a:ext cx="8516100" cy="58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47625" rIns="95250" bIns="476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553200" y="6381750"/>
            <a:ext cx="2133600" cy="28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47625" rIns="95250" bIns="476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457200" y="1047750"/>
            <a:ext cx="3810000" cy="440505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47625" rIns="95250" bIns="47625" anchor="t" anchorCtr="0">
            <a:spAutoFit/>
          </a:bodyPr>
          <a:lstStyle/>
          <a:p>
            <a:pPr marL="139700" lvl="0">
              <a:buClr>
                <a:srgbClr val="333333"/>
              </a:buClr>
              <a:buSzPts val="1400"/>
            </a:pPr>
            <a:r>
              <a:rPr lang="en-US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Preparation:</a:t>
            </a: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Datasets collected and preprocessed to remove noise</a:t>
            </a: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Data converted to numerical representations via tokenization</a:t>
            </a:r>
          </a:p>
          <a:p>
            <a:pPr marL="139700" lvl="0">
              <a:buClr>
                <a:srgbClr val="333333"/>
              </a:buClr>
              <a:buSzPts val="1400"/>
            </a:pPr>
            <a:endParaRPr lang="en-US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Approach:</a:t>
            </a: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Unsupervised learning for general language patterns</a:t>
            </a: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Fine-tuning with task-specific datasets</a:t>
            </a: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Combining supervised learning with human feedback</a:t>
            </a:r>
          </a:p>
          <a:p>
            <a:pPr marL="139700" lvl="0">
              <a:buClr>
                <a:srgbClr val="333333"/>
              </a:buClr>
              <a:buSzPts val="1400"/>
            </a:pPr>
            <a:endParaRPr lang="en-US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&amp; Evaluation:</a:t>
            </a: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Model pruning and quantization to reduce computational cost</a:t>
            </a: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Metrics: accuracy, BLEU score, human judgment</a:t>
            </a:r>
          </a:p>
          <a:p>
            <a:pPr marL="139700" lvl="0"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Safety mechanisms: bias reduction and content filtering</a:t>
            </a:r>
            <a:endParaRPr sz="14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8CFA0B-4898-F0FC-723D-2BF90B266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235" y="4441317"/>
            <a:ext cx="4267198" cy="1772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188A5F-65CF-51F6-6DC6-7A417F414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235" y="1319366"/>
            <a:ext cx="3657600" cy="2879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/>
        </p:nvSpPr>
        <p:spPr>
          <a:xfrm>
            <a:off x="170800" y="223350"/>
            <a:ext cx="85161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9525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200" b="1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57200" y="4719802"/>
            <a:ext cx="8229600" cy="142346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95250" rIns="95250" bIns="95250" anchor="t" anchorCtr="0">
            <a:spAutoFit/>
          </a:bodyPr>
          <a:lstStyle/>
          <a:p>
            <a:pPr lvl="0"/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Few-shot learning significantly improves over zero-shot</a:t>
            </a:r>
          </a:p>
          <a:p>
            <a:pPr lvl="0"/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Trade-off: performance vs. efficiency (computational resources)</a:t>
            </a:r>
          </a:p>
          <a:p>
            <a:pPr lvl="0"/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Models highly sensitive to input phrasing and structure</a:t>
            </a:r>
          </a:p>
          <a:p>
            <a:pPr lvl="0"/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Bias in outputs reflects training data biases</a:t>
            </a:r>
          </a:p>
          <a:p>
            <a:pPr lvl="0"/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External knowledge sources improve factual accuracy</a:t>
            </a:r>
            <a:endParaRPr sz="1600" b="0" i="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7734300" y="6477000"/>
            <a:ext cx="95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9525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200" b="0" i="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51A11A-4B23-5575-6A35-B1919450D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5498"/>
            <a:ext cx="3770671" cy="34286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951130-4DB7-4642-BA49-1C983CA5B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104786"/>
            <a:ext cx="3847178" cy="35101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0000" y="183925"/>
            <a:ext cx="6376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&amp; Challenges</a:t>
            </a:r>
            <a:endParaRPr b="1"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6769390" y="6592494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52700" y="1182271"/>
            <a:ext cx="88386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Automation and scalability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user interaction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Versatile across multiple tasks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Hallucination in sensitive fields (healthcare)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Bias leading to unfair/misleading results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computational cost limits accessibility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interpretability reduces trust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64000" y="170800"/>
            <a:ext cx="6312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 b="1"/>
          </a:p>
        </p:txBody>
      </p:sp>
      <p:sp>
        <p:nvSpPr>
          <p:cNvPr id="148" name="Google Shape;148;p17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64008" y="1050000"/>
            <a:ext cx="883872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800"/>
          </a:p>
        </p:txBody>
      </p:sp>
      <p:sp>
        <p:nvSpPr>
          <p:cNvPr id="150" name="Google Shape;150;p17"/>
          <p:cNvSpPr txBox="1"/>
          <p:nvPr/>
        </p:nvSpPr>
        <p:spPr>
          <a:xfrm>
            <a:off x="164008" y="1500000"/>
            <a:ext cx="883872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LLMs significantly improved AI capabilities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Challenges must be addressed: hallucination, bias, cost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validation mechanisms and human oversight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64008" y="2965622"/>
            <a:ext cx="883872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164008" y="3452892"/>
            <a:ext cx="883872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More efficient models for low-resource devices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external knowledge bases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transparency and interpretability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Domain-specific models for specialized fields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5C9D6259-4857-ABE8-0C0B-A5E790214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43B92B42-B248-648A-E048-BE48EFC49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AD2128DE-F47F-DC4F-00B8-C8A212905439}"/>
              </a:ext>
            </a:extLst>
          </p:cNvPr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27F4CDDC-DF63-6834-B513-367CC61883C8}"/>
              </a:ext>
            </a:extLst>
          </p:cNvPr>
          <p:cNvSpPr txBox="1"/>
          <p:nvPr/>
        </p:nvSpPr>
        <p:spPr>
          <a:xfrm>
            <a:off x="2969822" y="2086209"/>
            <a:ext cx="883872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Thank You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66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On-screen Show (4:3)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Office Theme</vt:lpstr>
      <vt:lpstr> </vt:lpstr>
      <vt:lpstr> </vt:lpstr>
      <vt:lpstr>PowerPoint Presentation</vt:lpstr>
      <vt:lpstr> </vt:lpstr>
      <vt:lpstr> </vt:lpstr>
      <vt:lpstr>PowerPoint Presentation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Dimple Khatri</dc:creator>
  <cp:lastModifiedBy>dimplekhatrianil@outlook.com</cp:lastModifiedBy>
  <cp:revision>1</cp:revision>
  <dcterms:modified xsi:type="dcterms:W3CDTF">2026-04-25T18:56:24Z</dcterms:modified>
</cp:coreProperties>
</file>